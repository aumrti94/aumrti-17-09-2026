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305A"/>
            </a:solidFill>
            <a:effectLst/>
          </c:spPr>
          <c:invertIfNegative val="0"/>
          <c:dLbls>
            <c:numFmt formatCode="\₹0.0&quot; L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05A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 · 4 hospitals</c:v>
                </c:pt>
                <c:pt idx="1">
                  <c:v>Year 2 · 14 hospitals</c:v>
                </c:pt>
                <c:pt idx="2">
                  <c:v>Year 3 · 35 hospitals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18.5</c:v>
                </c:pt>
                <c:pt idx="1">
                  <c:v>58.7</c:v>
                </c:pt>
                <c:pt idx="2">
                  <c:v>140.69999999999999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62-4E94-95A5-75338CEDCD3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085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929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aumrti94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umrti 06-06-2026\docs\pitch\assets\aumrti-log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5176" y="328624"/>
            <a:ext cx="1737360" cy="8326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52767" y="6583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AI-NATIVE HOSPITAL OPERATING SYSTEM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66928" y="1874520"/>
            <a:ext cx="8778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4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system for every operation in the hospital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566928" y="3346704"/>
            <a:ext cx="566928" cy="32918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3584448"/>
            <a:ext cx="79552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AI-native hospital operating system built for mid-sized Indian hospitals and nursing homes — from the clinical note to claim settlement, on one record.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2579522" y="4681728"/>
            <a:ext cx="18790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579522" y="5084064"/>
            <a:ext cx="1879092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kern="0" spc="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MODULES BUILT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555748" y="4681728"/>
            <a:ext cx="18790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555748" y="5084064"/>
            <a:ext cx="1879092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464308" y="4736592"/>
            <a:ext cx="5486" cy="640080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4681728"/>
            <a:ext cx="18790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44568" y="5084064"/>
            <a:ext cx="1879092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kern="0" spc="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FEATURES WIRED IN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453128" y="4736592"/>
            <a:ext cx="5486" cy="640080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" name="Text 12"/>
          <p:cNvSpPr/>
          <p:nvPr/>
        </p:nvSpPr>
        <p:spPr>
          <a:xfrm>
            <a:off x="6533388" y="4681728"/>
            <a:ext cx="18790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533388" y="5084064"/>
            <a:ext cx="1879092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kern="0" spc="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LANGUAGES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441948" y="4736592"/>
            <a:ext cx="5486" cy="640080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5797296"/>
            <a:ext cx="1105783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90702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the Ratan Tata Innovation Hub · Amaravati, Andhra Pradesh · August 2026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418527" y="58521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Yeswanth Gottumukkala · Founder
</a:t>
            </a: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9885447798·   </a:t>
            </a: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/>
              </a:rPr>
              <a:t>aumrti94@gmail.com</a:t>
            </a: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  www.aumrti.com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patient episode, re-entered at every desk it passes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Mid-sized Indian hospitals do not lack software. They run four or five of them, and none of them agree.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1721053" cy="1316736"/>
          </a:xfrm>
          <a:prstGeom prst="roundRect">
            <a:avLst>
              <a:gd name="adj" fmla="val 277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093976"/>
            <a:ext cx="142844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3232" y="2276856"/>
            <a:ext cx="1428445" cy="220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 desk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3232" y="2516124"/>
            <a:ext cx="1428445" cy="6385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Details captured on paper and re-typed into desk software.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51405" y="2496312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45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⇢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434285" y="1965960"/>
            <a:ext cx="1721053" cy="1316736"/>
          </a:xfrm>
          <a:prstGeom prst="roundRect">
            <a:avLst>
              <a:gd name="adj" fmla="val 277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80589" y="2093976"/>
            <a:ext cx="142844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580589" y="2276856"/>
            <a:ext cx="1428445" cy="220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580589" y="2516124"/>
            <a:ext cx="1428445" cy="6385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Notes typed late, or rewritten from memory after the visit.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8762" y="2496312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45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⇢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01642" y="1965960"/>
            <a:ext cx="1721053" cy="1316736"/>
          </a:xfrm>
          <a:prstGeom prst="roundRect">
            <a:avLst>
              <a:gd name="adj" fmla="val 277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7946" y="2093976"/>
            <a:ext cx="142844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7946" y="2276856"/>
            <a:ext cx="1428445" cy="220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Diagnostics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447946" y="2516124"/>
            <a:ext cx="1428445" cy="6385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Lab, radiology and pharmacy orders carried by hand or phone.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6120" y="2496312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45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⇢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69000" y="1965960"/>
            <a:ext cx="1721053" cy="1316736"/>
          </a:xfrm>
          <a:prstGeom prst="roundRect">
            <a:avLst>
              <a:gd name="adj" fmla="val 277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15304" y="2093976"/>
            <a:ext cx="142844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15304" y="2276856"/>
            <a:ext cx="1428445" cy="220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15304" y="2516124"/>
            <a:ext cx="1428445" cy="6385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Nursing notes on paper; billing clearance chased verbally.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53477" y="2496312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45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⇢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36357" y="1965960"/>
            <a:ext cx="1721053" cy="1316736"/>
          </a:xfrm>
          <a:prstGeom prst="roundRect">
            <a:avLst>
              <a:gd name="adj" fmla="val 277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82661" y="2093976"/>
            <a:ext cx="142844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182661" y="2276856"/>
            <a:ext cx="1428445" cy="220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Discharge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82661" y="2516124"/>
            <a:ext cx="1428445" cy="6385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and coding delayed, often assembled from memory.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720834" y="2496312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45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⇢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03714" y="1965960"/>
            <a:ext cx="1721053" cy="1316736"/>
          </a:xfrm>
          <a:prstGeom prst="roundRect">
            <a:avLst>
              <a:gd name="adj" fmla="val 277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50018" y="2093976"/>
            <a:ext cx="142844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050018" y="2276856"/>
            <a:ext cx="1428445" cy="220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Claim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0050018" y="2516124"/>
            <a:ext cx="1428445" cy="6385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Pre-auth and TPA follow-up run out of Excel and email.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3564026" cy="1371600"/>
          </a:xfrm>
          <a:prstGeom prst="roundRect">
            <a:avLst>
              <a:gd name="adj" fmla="val 266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3639312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Clinicians pay in time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68096" y="3919728"/>
            <a:ext cx="316169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is done twice — once for the patient, once for the system that will not accept the first copy.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313834" y="3438144"/>
            <a:ext cx="3564026" cy="1371600"/>
          </a:xfrm>
          <a:prstGeom prst="roundRect">
            <a:avLst>
              <a:gd name="adj" fmla="val 266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15002" y="3639312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hospital pays in cash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515002" y="3919728"/>
            <a:ext cx="316169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missed at the point of care, </a:t>
            </a:r>
            <a:b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Incomplete coding and </a:t>
            </a:r>
            <a:b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slow claim packets turn into denials and write-offs.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060741" y="3438144"/>
            <a:ext cx="3564026" cy="1371600"/>
          </a:xfrm>
          <a:prstGeom prst="roundRect">
            <a:avLst>
              <a:gd name="adj" fmla="val 266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61909" y="3639312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Everyone pays at audit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261909" y="3919728"/>
            <a:ext cx="316169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ABDM, HMIS and NABH all ask for an evidence trail that fragmented systems cannot produce on demand.</a:t>
            </a:r>
            <a:endParaRPr lang="en-US" sz="1050" dirty="0"/>
          </a:p>
        </p:txBody>
      </p:sp>
      <p:pic>
        <p:nvPicPr>
          <p:cNvPr id="55" name="Image 0" descr="D:\Aumrti 06-06-2026\docs\pitch\assets\aumrti-logo.png">
            <a:extLst>
              <a:ext uri="{FF2B5EF4-FFF2-40B4-BE49-F238E27FC236}">
                <a16:creationId xmlns:a16="http://schemas.microsoft.com/office/drawing/2014/main" id="{CE052D68-67E9-DA13-7022-0E9F366BC5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015" y="5376672"/>
            <a:ext cx="1737360" cy="8326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record, one audit trail, one login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is not a suite of products that integrate. It is one system whose modules share the same patient, the same encounter and the same ledger — from the front desk to claim settlement.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3564026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6712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patient record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2447544"/>
            <a:ext cx="3161690" cy="963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 once. Every module — ward, lab, pharmacy, billing, claims — reads and writes the same encounter.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3834" y="1965960"/>
            <a:ext cx="3564026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15002" y="216712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audit trail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15002" y="2447544"/>
            <a:ext cx="3161690" cy="963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clinical and financial action is logged against that encounter, so NABH evidence and claim documentation come out of routine work.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0741" y="1965960"/>
            <a:ext cx="3564026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61909" y="216712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login, role-aware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61909" y="2447544"/>
            <a:ext cx="3161690" cy="963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 sign-in resolves to what that person may see. 14 roles, gated at the route and again in the database.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67588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20" b="1" kern="0" spc="1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MODULE BELOW READS AND WRITES THAT SAME RECORD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66928" y="3986784"/>
            <a:ext cx="2094525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" y="4187952"/>
            <a:ext cx="1692189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care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8096" y="4468368"/>
            <a:ext cx="1692189" cy="963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OPD, IPD, Emergency, OT, Nursing, Day Care, Telemedicine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807757" y="3986784"/>
            <a:ext cx="2094525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08925" y="4187952"/>
            <a:ext cx="1692189" cy="44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Diagnostics &amp; pharmacy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008925" y="4666488"/>
            <a:ext cx="1692189" cy="765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Lab, Radiology, Blood Bank, CSSD, Pharmacy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48585" y="3986784"/>
            <a:ext cx="2094525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49753" y="4187952"/>
            <a:ext cx="1692189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cycle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49753" y="4468368"/>
            <a:ext cx="1692189" cy="963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Billing, Insurance &amp; TPA, PMJAY, Payments, Accounts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289414" y="3986784"/>
            <a:ext cx="2094525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15814" y="4050792"/>
            <a:ext cx="1968125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&amp; estate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0582" y="4468368"/>
            <a:ext cx="1692189" cy="963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HR, Biomedical, Facility, Housekeeping, Inventory, MRD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30243" y="3986784"/>
            <a:ext cx="2094525" cy="1572768"/>
          </a:xfrm>
          <a:prstGeom prst="roundRect">
            <a:avLst>
              <a:gd name="adj" fmla="val 2326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31411" y="4187952"/>
            <a:ext cx="1692189" cy="44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&amp; intelligence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731411" y="4666488"/>
            <a:ext cx="1692189" cy="765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NABH, ABDM, HMIS, Analytics, Clinical Intelligence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patient's day, from the inside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acronyms. This is what actually happens when a hospital runs on Aumrti.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3564026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6712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8096" y="2386584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patient is registered once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" y="2667000"/>
            <a:ext cx="3161690" cy="688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Identity, ABHA and history captured at the desk. Every screen after this reads that same record.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13834" y="1965960"/>
            <a:ext cx="3564026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5002" y="216712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CONSULTATION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15002" y="2386584"/>
            <a:ext cx="3161690" cy="44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doctor speaks; the note writes itself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15002" y="2865120"/>
            <a:ext cx="3161690" cy="490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Dictation in the doctor's own language becomes a structured note.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60741" y="1965960"/>
            <a:ext cx="3564026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1909" y="216712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HOUR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61909" y="2386584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travel on their own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61909" y="2667000"/>
            <a:ext cx="3161690" cy="688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Lab, radiology and pharmacy receive them the moment they are signed. Nothing is carried, nothing re-typed.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3666744"/>
            <a:ext cx="3564026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3867912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68096" y="408736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ward sees the whole picture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8096" y="4367784"/>
            <a:ext cx="3161690" cy="688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Vitals, drug chart, nursing notes and an early-warning score sit on one screen for the nurse on duty.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13834" y="3666744"/>
            <a:ext cx="3564026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15002" y="3867912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DISCHARGE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15002" y="408736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summary assembles itself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15002" y="4367784"/>
            <a:ext cx="3161690" cy="688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Drafted from the episode that just happened, coded, and handed to the doctor to check and sign.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60741" y="3666744"/>
            <a:ext cx="3564026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61909" y="3867912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1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61909" y="408736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bill and the claim follow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61909" y="4367784"/>
            <a:ext cx="3161690" cy="688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captured as they occurred; the claim packet is built from the same record. The patient gets a WhatsApp update.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535838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hospital does not change how it works. The record simply stops being re-typed.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modules, five domains, one schema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Breadth is not the claim. The claim is that these share a spine — a ward charge, a lab result and a claim line all point at the same encounter.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2079894" cy="3657600"/>
          </a:xfrm>
          <a:prstGeom prst="roundRect">
            <a:avLst>
              <a:gd name="adj" fmla="val 175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112264"/>
            <a:ext cx="1750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2459736"/>
            <a:ext cx="175071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CARE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731520" y="2679192"/>
            <a:ext cx="1750710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0632"/>
            <a:ext cx="175071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Care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Emergency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 Theatre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Nursing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Telemedicine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Packages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2811414" y="1965960"/>
            <a:ext cx="2079894" cy="3657600"/>
          </a:xfrm>
          <a:prstGeom prst="roundRect">
            <a:avLst>
              <a:gd name="adj" fmla="val 175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6006" y="2112264"/>
            <a:ext cx="1750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976006" y="2459736"/>
            <a:ext cx="175071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DIAGNOSTICS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976006" y="2679192"/>
            <a:ext cx="1750710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1" name="Text 19"/>
          <p:cNvSpPr/>
          <p:nvPr/>
        </p:nvSpPr>
        <p:spPr>
          <a:xfrm>
            <a:off x="2976006" y="2770632"/>
            <a:ext cx="175071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Laboratory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Radiology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Blood Bank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CSSD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Pharmacy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5055900" y="1965960"/>
            <a:ext cx="2079894" cy="3657600"/>
          </a:xfrm>
          <a:prstGeom prst="roundRect">
            <a:avLst>
              <a:gd name="adj" fmla="val 175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0492" y="2112264"/>
            <a:ext cx="1750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220492" y="2459736"/>
            <a:ext cx="175071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SPECIALTY UNITS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5220492" y="2679192"/>
            <a:ext cx="1750710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Text 24"/>
          <p:cNvSpPr/>
          <p:nvPr/>
        </p:nvSpPr>
        <p:spPr>
          <a:xfrm>
            <a:off x="5220492" y="2770632"/>
            <a:ext cx="175071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Dialysis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Oncology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IVF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AYUSH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Physiotherapy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Mental Health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Chronic Disease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Neonatal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Obstetric ANC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Partograph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Anaesthesia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Ophthalmology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+ 2 more — appendix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7300387" y="1965960"/>
            <a:ext cx="2079894" cy="3657600"/>
          </a:xfrm>
          <a:prstGeom prst="roundRect">
            <a:avLst>
              <a:gd name="adj" fmla="val 175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64979" y="2112264"/>
            <a:ext cx="1750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64979" y="2459736"/>
            <a:ext cx="175071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CYCLE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7464979" y="2679192"/>
            <a:ext cx="1750710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1" name="Text 29"/>
          <p:cNvSpPr/>
          <p:nvPr/>
        </p:nvSpPr>
        <p:spPr>
          <a:xfrm>
            <a:off x="7464979" y="2770632"/>
            <a:ext cx="175071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Insurance &amp; TPA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PMJAY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Closure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 Assets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9544873" y="1965960"/>
            <a:ext cx="2079894" cy="3657600"/>
          </a:xfrm>
          <a:prstGeom prst="roundRect">
            <a:avLst>
              <a:gd name="adj" fmla="val 175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09465" y="2112264"/>
            <a:ext cx="1750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709465" y="2459736"/>
            <a:ext cx="175071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9709465" y="2679192"/>
            <a:ext cx="1750710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Text 34"/>
          <p:cNvSpPr/>
          <p:nvPr/>
        </p:nvSpPr>
        <p:spPr>
          <a:xfrm>
            <a:off x="9709465" y="2770632"/>
            <a:ext cx="175071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Resources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Biomedical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Management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Housekeeping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Ambulance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Mortuary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Dietetics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 Records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&amp; NABH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Infection Control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HMIS Reporting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+ 12 more — appendix</a:t>
            </a:r>
            <a:endParaRPr lang="en-US" sz="940" dirty="0"/>
          </a:p>
        </p:txBody>
      </p:sp>
      <p:sp>
        <p:nvSpPr>
          <p:cNvPr id="37" name="Text 35"/>
          <p:cNvSpPr/>
          <p:nvPr/>
        </p:nvSpPr>
        <p:spPr>
          <a:xfrm>
            <a:off x="566928" y="56875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module index and per-domain detail in the appendix.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WAS BUILT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layers, one system of record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layer sits on one encounter spine. That single choice is what holds the depth on the previous slide together.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11057839" cy="1036320"/>
          </a:xfrm>
          <a:prstGeom prst="roundRect">
            <a:avLst>
              <a:gd name="adj" fmla="val 352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68096" y="2368296"/>
            <a:ext cx="2286000" cy="52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hospital touches.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145536" y="2130552"/>
            <a:ext cx="5486" cy="70713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6" name="Text 14"/>
          <p:cNvSpPr/>
          <p:nvPr/>
        </p:nvSpPr>
        <p:spPr>
          <a:xfrm>
            <a:off x="3364992" y="2112264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tablet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Role-aware screens for 14 roles, tablet-first at the nurse station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51194" y="2112264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queue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survive a dropped connection and sync when it returns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7397" y="2112264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Structured, logged patient and staff messaging — not a personal phone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148584"/>
            <a:ext cx="11057839" cy="1036320"/>
          </a:xfrm>
          <a:prstGeom prst="roundRect">
            <a:avLst>
              <a:gd name="adj" fmla="val 352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2948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68096" y="3550920"/>
            <a:ext cx="2286000" cy="52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at one seam, never in the browser.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145536" y="3313176"/>
            <a:ext cx="5486" cy="70713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3" name="Text 21"/>
          <p:cNvSpPr/>
          <p:nvPr/>
        </p:nvSpPr>
        <p:spPr>
          <a:xfrm>
            <a:off x="3364992" y="3294888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AI chokepoint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 server functions; provider keys never reach the client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51194" y="3294888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registry &amp; cost attribution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call versioned, costed and attributable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37397" y="3294888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safety guard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after the model — it never asks the model to grade itself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331208"/>
            <a:ext cx="11057839" cy="1036320"/>
          </a:xfrm>
          <a:prstGeom prst="roundRect">
            <a:avLst>
              <a:gd name="adj" fmla="val 3529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44775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of record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8096" y="4733544"/>
            <a:ext cx="2286000" cy="52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encounter spine underneath everything.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45536" y="4495800"/>
            <a:ext cx="5486" cy="70713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4477512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Postgres schema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encounter spine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51194" y="4477512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isolation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37397" y="4477512"/>
            <a:ext cx="2539898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 protection &amp; audit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AES-256-GCM envelope encryption, every access logged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5504688"/>
            <a:ext cx="11057839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modules, one schema — which is why a ward charge, a lab result and a claim line already point at the same encounter, and why this is one product rather than 61 with an integration problem.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INDIA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compliance surface is wired, not roadmapped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are not integrations we intend to build. They exist in the codebase today — what remains on several of them is certification, and we say so.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2219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1214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24140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generated from real clinical events; quality indicators mirrored between database and app so the dashboard and the criterion score cannot disagree.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4301642" y="19659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4522" y="22219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18" name="Text 16"/>
          <p:cNvSpPr/>
          <p:nvPr/>
        </p:nvSpPr>
        <p:spPr>
          <a:xfrm>
            <a:off x="4649114" y="21214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 &amp; ABHA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49114" y="24140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gateway functions built to the NHA Integration Guide, with a sandbox-to-production switch. Certification is the next step, not the build.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8036357" y="19659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19237" y="22219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22" name="Text 20"/>
          <p:cNvSpPr/>
          <p:nvPr/>
        </p:nvSpPr>
        <p:spPr>
          <a:xfrm>
            <a:off x="8383829" y="21214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FHIR R4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83829" y="24140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resource types for record sharing, export and care-context linking.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66928" y="33375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35935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PMJAY · CGHS · HCX · ESI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37856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Eligibility checks, pre-authorisation and claim submission against the payer schemes Indian hospitals actually bill.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301642" y="33375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84522" y="35935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30" name="Text 28"/>
          <p:cNvSpPr/>
          <p:nvPr/>
        </p:nvSpPr>
        <p:spPr>
          <a:xfrm>
            <a:off x="4649114" y="34930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HMIS &amp; IDSP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649114" y="37856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Statutory reporting produced from routine work rather than as a separate month-end exercise.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8036357" y="33375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19237" y="35935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34" name="Text 32"/>
          <p:cNvSpPr/>
          <p:nvPr/>
        </p:nvSpPr>
        <p:spPr>
          <a:xfrm>
            <a:off x="8383829" y="34930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GST e-invoicing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383829" y="37856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IRN generation through the NIC IRP, with rates driven from the service master — never hardcoded.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66928" y="47091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9808" y="49651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48646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DPDP-grade PHI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14400" y="51572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AES-256-GCM envelope encryption, per-hospital keys, thirteen encrypted column families, and every access audited.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4301642" y="47091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84522" y="49651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42" name="Text 40"/>
          <p:cNvSpPr/>
          <p:nvPr/>
        </p:nvSpPr>
        <p:spPr>
          <a:xfrm>
            <a:off x="4649114" y="48646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Indian languages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649114" y="51572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capture on the Bhashini and Sarvam stacks, with medical-term correction tuned to Indian-accented English.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6357" y="4709160"/>
            <a:ext cx="358841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19237" y="4965192"/>
            <a:ext cx="82296" cy="82296"/>
          </a:xfrm>
          <a:prstGeom prst="ellipse">
            <a:avLst/>
          </a:prstGeom>
          <a:solidFill>
            <a:srgbClr val="F5A310"/>
          </a:solidFill>
          <a:ln/>
        </p:spPr>
      </p:sp>
      <p:sp>
        <p:nvSpPr>
          <p:cNvPr id="46" name="Text 44"/>
          <p:cNvSpPr/>
          <p:nvPr/>
        </p:nvSpPr>
        <p:spPr>
          <a:xfrm>
            <a:off x="8383829" y="4864608"/>
            <a:ext cx="30763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&amp; escalation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83829" y="5157216"/>
            <a:ext cx="30763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deterioration, insurance SLA breaches and NABH indicator drift each raise an alert with an escalation ladder behind it.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SELLING PROPOSITION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inside the workflow, with a net that does not trust it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add a chatbot to a hospital system. The difference is what happens to the model's output before a clinician ever sees it.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5437480" cy="1664208"/>
          </a:xfrm>
          <a:prstGeom prst="roundRect">
            <a:avLst>
              <a:gd name="adj" fmla="val 219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6712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is native to the workflow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2447544"/>
            <a:ext cx="5035144" cy="1054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 catalogued AI features wired into 94 call sites inside the screens where the work already happens — not a separate assistant a doctor has to remember to open.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87288" y="1965960"/>
            <a:ext cx="5437480" cy="1664208"/>
          </a:xfrm>
          <a:prstGeom prst="roundRect">
            <a:avLst>
              <a:gd name="adj" fmla="val 219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16712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Indic-accented medical speech correction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447544"/>
            <a:ext cx="5035144" cy="1054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Phonetic bucketing tuned to Indian-English drug and diagnosis terms — "parasetamall" resolves to paracetamol — gated so a collision can never silently rewrite a drug name.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3564026" cy="2011680"/>
          </a:xfrm>
          <a:prstGeom prst="roundRect">
            <a:avLst>
              <a:gd name="adj" fmla="val 181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995928"/>
            <a:ext cx="3161690" cy="44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deterministic net under every model output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8096" y="4474464"/>
            <a:ext cx="316169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Allergy cross-reactivity, Schedule H and X controls, per-dose ceilings and paediatric flags. Pure, synchronous code that runs after the model, and never asks the model whether it was right.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3834" y="3794760"/>
            <a:ext cx="3564026" cy="2011680"/>
          </a:xfrm>
          <a:prstGeom prst="roundRect">
            <a:avLst>
              <a:gd name="adj" fmla="val 181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995928"/>
            <a:ext cx="3161690" cy="44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AI cannot be switched off by a budget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15002" y="4474464"/>
            <a:ext cx="316169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Deterioration, drug-interaction and critical-finding detection are structurally exempt from a hospital's AI cost cap. A cap that could throttle those would be a safety mechanism wearing a billing costume.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60741" y="3794760"/>
            <a:ext cx="3564026" cy="2011680"/>
          </a:xfrm>
          <a:prstGeom prst="roundRect">
            <a:avLst>
              <a:gd name="adj" fmla="val 181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1909" y="3995928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Attestation is a database record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61909" y="4276344"/>
            <a:ext cx="3161690" cy="140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 doctor accepts AI-drafted clinical content, the system stores who signed it and whether they edited it first. Medico-legally, that record is the difference.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COMPETITION &amp; BARRIER TO ENTRY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feature is copyable. The combination is not.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today's alternatives compare, and what a fast follower would actually have to rebuild.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23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65960"/>
          <a:ext cx="5943600" cy="2279904"/>
        </p:xfrm>
        <a:graphic>
          <a:graphicData uri="http://schemas.openxmlformats.org/drawingml/2006/table">
            <a:tbl>
              <a:tblPr/>
              <a:tblGrid>
                <a:gridCol w="213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708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6708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Legacy HMS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6708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Scribe-only AI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6708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Claim-only tools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05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Aumrti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End-to-end patient journey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5A31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Multilingual AI at the point of care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Insurance, TPA and PMJAY depth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5A31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ABDM, NABH and HMIS built 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5A31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schema, one audit trail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5A31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61 modules under one login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8A2B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9F8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66928" y="4443984"/>
            <a:ext cx="5943600" cy="118872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9808" y="4626864"/>
            <a:ext cx="25603" cy="822960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15" name="Text 12"/>
          <p:cNvSpPr/>
          <p:nvPr/>
        </p:nvSpPr>
        <p:spPr>
          <a:xfrm>
            <a:off x="932688" y="4553712"/>
            <a:ext cx="5358384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single feature is replicable in months. The combination is not — workflow depth across 61 modules, one schema, one audit trail.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711696" y="1965960"/>
            <a:ext cx="4913071" cy="3621024"/>
          </a:xfrm>
          <a:prstGeom prst="roundRect">
            <a:avLst>
              <a:gd name="adj" fmla="val 10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31152" y="2130552"/>
            <a:ext cx="447415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fast follower would actually have to rebuild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931152" y="2423160"/>
            <a:ext cx="447415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546-table schema where a ward charge, a lab result and a claim line already refer to the same encounter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973 tenant-isolation policies, written before the first customer rather than retrofitted after the first breach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workflow edge cases across sixty-one modules — NDPS registers, Form F, MLC, day-care packages, TPA query cycles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clinical safety layer, and the attestation trail that makes AI output medico-legally defensible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31152" y="5202936"/>
            <a:ext cx="44741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Categories we compete with: legacy on-premise HMS · AI scribe point tools · revenue-cycle and claim desks.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MODEL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Per-bed subscription, metered AI, one-time implementation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three mechanics — subscription, metered AI wallet with dunning, and implementation billing — are already implemented in the platform, not planned.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3564026" cy="1371600"/>
          </a:xfrm>
          <a:prstGeom prst="roundRect">
            <a:avLst>
              <a:gd name="adj" fmla="val 266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67128"/>
            <a:ext cx="316169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₹250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68096" y="2569464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bed, per month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" y="2849880"/>
            <a:ext cx="3161690" cy="423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subscription across every module the hospital's plan enables.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13834" y="1965960"/>
            <a:ext cx="3564026" cy="1371600"/>
          </a:xfrm>
          <a:prstGeom prst="roundRect">
            <a:avLst>
              <a:gd name="adj" fmla="val 266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5002" y="2167128"/>
            <a:ext cx="316169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₹3,500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515002" y="2569464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drawdown, per month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15002" y="2849880"/>
            <a:ext cx="3161690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Metered from a prepaid wallet. Safety AI is never charged against it.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60741" y="1965960"/>
            <a:ext cx="3564026" cy="1371600"/>
          </a:xfrm>
          <a:prstGeom prst="roundRect">
            <a:avLst>
              <a:gd name="adj" fmla="val 266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1909" y="2167128"/>
            <a:ext cx="316169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₹1.5 L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261909" y="2569464"/>
            <a:ext cx="3161690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Implementation, one-time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61909" y="2849880"/>
            <a:ext cx="3161690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Migration, training by role, and on-site go-live support.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383280"/>
            <a:ext cx="356402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100-bed hospital pays ₹25,000/month — inside the ₹20,000–₹35,000 band our own pricing rule fixes as viable for a Tier-2 hospital.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3834" y="3383280"/>
            <a:ext cx="356402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usage, billed on inference actuals plus margin. Our internal ceiling holds median AI cost under ₹2,000/hospital/month.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060741" y="3383280"/>
            <a:ext cx="356402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three weeks of work at a 100-bed site. Charged once, on new sites only.</a:t>
            </a:r>
            <a:endParaRPr lang="en-US" sz="85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566928" y="3931920"/>
          <a:ext cx="5577840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5"/>
          <p:cNvSpPr/>
          <p:nvPr/>
        </p:nvSpPr>
        <p:spPr>
          <a:xfrm>
            <a:off x="566928" y="5522976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site 90 beds; cumulative hospitals 4 → 14 → 35. Beds × ₹250 × 12, plus AI drawdown, plus implementation on new sites only. No price escalation assumed.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64224" y="3931920"/>
            <a:ext cx="5260543" cy="2084832"/>
          </a:xfrm>
          <a:prstGeom prst="roundRect">
            <a:avLst>
              <a:gd name="adj" fmla="val 1754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83680" y="4096512"/>
            <a:ext cx="482163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cash goes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583680" y="4389120"/>
            <a:ext cx="4821631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and clinical-safety salaries — the largest line by far, and most of what the ask is for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inference, billed to us in USD against pricing set in INR — the margin most exposed to FX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On-site go-live — Tier-2 implementations need people on the floor, not a webinar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 milestone certification and an independent security review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MARKET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Sized from beds and price, not from a market report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Sized bottom-up on purpose. Analyst totals for Indian hospital software vary by an order of magnitude and would not survive this panel's questions.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3564026" cy="1965960"/>
          </a:xfrm>
          <a:prstGeom prst="roundRect">
            <a:avLst>
              <a:gd name="adj" fmla="val 186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093976"/>
            <a:ext cx="31616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kern="0" spc="1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768096" y="2313432"/>
            <a:ext cx="31616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₹10,562 Cr / year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68096" y="2752344"/>
            <a:ext cx="316169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43,486 private hospitals in India, ~11.8 lakh private beds.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3246120"/>
            <a:ext cx="316169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Bed and hospital counts from national health-infrastructure estimates (CBHI lineage), converted at ₹250/bed/month. Subscription only.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3834" y="1965960"/>
            <a:ext cx="3564026" cy="1965960"/>
          </a:xfrm>
          <a:prstGeom prst="roundRect">
            <a:avLst>
              <a:gd name="adj" fmla="val 186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15002" y="2093976"/>
            <a:ext cx="31616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kern="0" spc="1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4515002" y="2313432"/>
            <a:ext cx="31616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~1,600 hospitals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15002" y="2752344"/>
            <a:ext cx="316169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hospitals and nursing homes in Andhra Pradesh, 50–300 bed band.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15002" y="3246120"/>
            <a:ext cx="316169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060741" y="1965960"/>
            <a:ext cx="3564026" cy="1965960"/>
          </a:xfrm>
          <a:prstGeom prst="roundRect">
            <a:avLst>
              <a:gd name="adj" fmla="val 186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1909" y="2093976"/>
            <a:ext cx="31616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kern="0" spc="1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261909" y="2313432"/>
            <a:ext cx="31616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hospitals by Year 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261909" y="2752344"/>
            <a:ext cx="316169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≈2% of that AP base, at ₹1.41 Cr revenue.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61909" y="3246120"/>
            <a:ext cx="316169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Bottom-up from what one small team can onboard and support: 4 sites, then 14, then 35.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66928" y="4133088"/>
            <a:ext cx="5419192" cy="1883664"/>
          </a:xfrm>
          <a:prstGeom prst="roundRect">
            <a:avLst>
              <a:gd name="adj" fmla="val 194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4297680"/>
            <a:ext cx="4980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actually signs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86384" y="4590288"/>
            <a:ext cx="498028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50–300 bed private hospital or nursing home, Tier-2 or Tier-3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promoter decides; the CFO tests it on claims 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medical director decides whether clinicians will trust it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exists already — the AMC line, plus what NABH costs them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05576" y="4133088"/>
            <a:ext cx="5419192" cy="1883664"/>
          </a:xfrm>
          <a:prstGeom prst="roundRect">
            <a:avLst>
              <a:gd name="adj" fmla="val 194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5032" y="4297680"/>
            <a:ext cx="4980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reach them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25032" y="4590288"/>
            <a:ext cx="498028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AP design-partner hospital through RTIH — the first reference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NABH consultants and CA firms, revenue share capped at 20%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PMJAY empanelment — what makes a hospital shop for software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WhatsApp-and-field motion, the channel administrators answer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without funding. 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on the left was reached solo and self-funded. Everything on the right needs a hospital that will let us in.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4754880" cy="3977640"/>
          </a:xfrm>
          <a:prstGeom prst="roundRect">
            <a:avLst>
              <a:gd name="adj" fmla="val 92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130552"/>
            <a:ext cx="43159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Reached so far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86384" y="2423160"/>
            <a:ext cx="4315968" cy="3392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hospital modules built on </a:t>
            </a:r>
            <a:r>
              <a:rPr lang="en-US" sz="105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schema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 AI features wired in, with a deterministic clinical safety layer beneath them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 gateway integration running against the NHA sandbox across ten functions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Patient-safety and money-handling libraries held under ratcheted CI floors — a regression fails the build</a:t>
            </a:r>
            <a:endParaRPr lang="en-US" sz="1050" dirty="0"/>
          </a:p>
          <a:p>
            <a:pPr>
              <a:lnSpc>
                <a:spcPct val="120000"/>
              </a:lnSpc>
              <a:spcAft>
                <a:spcPts val="400"/>
              </a:spcAft>
              <a:buSzPct val="100000"/>
            </a:pP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541264" y="1965960"/>
            <a:ext cx="2950312" cy="1897380"/>
          </a:xfrm>
          <a:prstGeom prst="roundRect">
            <a:avLst>
              <a:gd name="adj" fmla="val 192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42432" y="2167128"/>
            <a:ext cx="2547976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0–6 months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42432" y="2447544"/>
            <a:ext cx="2547976" cy="1287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design-partner hospital live in Andhra Pradesh. Baseline instrumented on day one: clinician minutes per encounter, discharge turnaround, claim-packet completeness. Hardening list closed before go-live.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74456" y="1965960"/>
            <a:ext cx="2950312" cy="1897380"/>
          </a:xfrm>
          <a:prstGeom prst="roundRect">
            <a:avLst>
              <a:gd name="adj" fmla="val 192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75624" y="2167128"/>
            <a:ext cx="2547976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6–12 months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75624" y="2447544"/>
            <a:ext cx="2547976" cy="1287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 M1–M3 milestone certification. Three paying sites beyond the design partner. First measured evidence — the numbers this deck deliberately does not yet claim.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41264" y="4046220"/>
            <a:ext cx="2950312" cy="1897380"/>
          </a:xfrm>
          <a:prstGeom prst="roundRect">
            <a:avLst>
              <a:gd name="adj" fmla="val 192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42432" y="4247388"/>
            <a:ext cx="2547976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42432" y="4527804"/>
            <a:ext cx="2547976" cy="1287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hospitals, a team of roughly twelve, and a go-live playbook repeatable by someone who is not the founder.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674456" y="4046220"/>
            <a:ext cx="2950312" cy="1897380"/>
          </a:xfrm>
          <a:prstGeom prst="roundRect">
            <a:avLst>
              <a:gd name="adj" fmla="val 1928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75624" y="4247388"/>
            <a:ext cx="2547976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75624" y="4527804"/>
            <a:ext cx="2547976" cy="1287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State-scale deployment across district and mid-sized hospitals, plus adjacent segments — day-care chains, dialysis and diagnostics networks.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BOUNDARIES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do not claim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of these was in an earlier draft and was cut because the codebase does not support it. They are listed rather than deleted — a panel that finds them should find we found them first.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5437480" cy="1508760"/>
          </a:xfrm>
          <a:prstGeom prst="roundRect">
            <a:avLst>
              <a:gd name="adj" fmla="val 2424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6712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proven in production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2447544"/>
            <a:ext cx="5035144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live deployments. Every efficiency benefit here is architectural until a pilot measures it — and that measurement is exactly what we are asking RTIH for.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87288" y="1965960"/>
            <a:ext cx="5437480" cy="1508760"/>
          </a:xfrm>
          <a:prstGeom prst="roundRect">
            <a:avLst>
              <a:gd name="adj" fmla="val 2424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16712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machine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447544"/>
            <a:ext cx="5035144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trained models, no learned weights. Risk scoring is language-model prompts over engineered features; escalation scores are deterministic and guideline-derived — NEWS2, SOFA, APACHE II. Safer at this stage. Still not ML.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657600"/>
            <a:ext cx="5437480" cy="1508760"/>
          </a:xfrm>
          <a:prstGeom prst="roundRect">
            <a:avLst>
              <a:gd name="adj" fmla="val 2424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5876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autonomous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8096" y="4139184"/>
            <a:ext cx="5035144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allocates a bed, a theatre slot or a nurse without a person acting. Nurse-to-patient requirements are computed from NABH ratios against live acuity and presented for a decision.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7288" y="3657600"/>
            <a:ext cx="5437480" cy="1508760"/>
          </a:xfrm>
          <a:prstGeom prst="roundRect">
            <a:avLst>
              <a:gd name="adj" fmla="val 2424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8456" y="385876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project-wide test coverage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88456" y="4139184"/>
            <a:ext cx="5035144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91% figure belongs to six chosen files — drug safety, clinical calculators, billing, GST, currency, quality indicators — under ratcheted CI. Real discipline, and a real limit.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85232"/>
            <a:ext cx="11057839" cy="7315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5358384"/>
            <a:ext cx="10582351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self-audit also produced a short hardening list — tenant-isolation policies on a few configuration tables, dependency advisories, and offline sync wired to one screen so far. All close before any pilot goes live.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TEAMAND THE ASK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founder to here. Three hires to a pilot.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pilot that works in Andhra Pradesh is directly replicable across the state.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19072"/>
            <a:ext cx="5349240" cy="1517904"/>
          </a:xfrm>
          <a:prstGeom prst="roundRect">
            <a:avLst>
              <a:gd name="adj" fmla="val 2410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786384" y="1847088"/>
            <a:ext cx="49103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Yeswanth Gottumukkala — Founder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86384" y="2139696"/>
            <a:ext cx="491032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discovery, product direction, full-stack engineering, AI workflow design and compliance surfaces. Architected and built end to end a solo founder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384" y="2889504"/>
            <a:ext cx="4910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49240" cy="1353312"/>
          </a:xfrm>
          <a:prstGeom prst="roundRect">
            <a:avLst>
              <a:gd name="adj" fmla="val 2703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529584"/>
            <a:ext cx="49103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three hires, in order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6384" y="3822192"/>
            <a:ext cx="4910328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 — platform hardening and multi-site deployment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safety lead — AI evaluation, guardrails, attestation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operations — onboarding, training, TPA mapping, go-live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791456"/>
            <a:ext cx="5349240" cy="1225296"/>
          </a:xfrm>
          <a:prstGeom prst="roundRect">
            <a:avLst>
              <a:gd name="adj" fmla="val 2985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956048"/>
            <a:ext cx="49103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Funding so far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" y="5248656"/>
            <a:ext cx="4910328" cy="7626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Self-funded —  personal capital , no external investment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Incorporation planned </a:t>
            </a:r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Pre-revenue by choice — we have not sold what we have not measured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1719072"/>
            <a:ext cx="5415991" cy="4297680"/>
          </a:xfrm>
          <a:prstGeom prst="roundRect">
            <a:avLst>
              <a:gd name="adj" fmla="val 851"/>
            </a:avLst>
          </a:prstGeom>
          <a:solidFill>
            <a:srgbClr val="F8FAFC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1847088"/>
            <a:ext cx="4940503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6520" y="21031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₹15 Lakh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769096" y="2231136"/>
            <a:ext cx="2617927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6-month runway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46520" y="2670048"/>
            <a:ext cx="4940503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Incubation and mentorship at RTIH Amaravati</a:t>
            </a:r>
            <a:endParaRPr lang="en-US" sz="1050" dirty="0"/>
          </a:p>
          <a:p>
            <a:pPr marL="152400" indent="-1524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design-partner hospital in Andhra Pradesh, to validate against live operations</a:t>
            </a:r>
            <a:endParaRPr lang="en-US" sz="1050" dirty="0"/>
          </a:p>
          <a:p>
            <a:pPr marL="152400" indent="-1524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Grant support for the first three hires and platform hardening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46520" y="3822192"/>
            <a:ext cx="494050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OF FUNDS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46520" y="407822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— three hires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929823" y="407822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71432" y="4174236"/>
            <a:ext cx="1666951" cy="27432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0" name="Shape 28"/>
          <p:cNvSpPr/>
          <p:nvPr/>
        </p:nvSpPr>
        <p:spPr>
          <a:xfrm>
            <a:off x="9171432" y="4165092"/>
            <a:ext cx="750128" cy="45720"/>
          </a:xfrm>
          <a:prstGeom prst="rect">
            <a:avLst/>
          </a:prstGeom>
          <a:solidFill>
            <a:srgbClr val="1B305A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38912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&amp; compliance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29823" y="438912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171432" y="4485132"/>
            <a:ext cx="1666951" cy="27432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4" name="Shape 32"/>
          <p:cNvSpPr/>
          <p:nvPr/>
        </p:nvSpPr>
        <p:spPr>
          <a:xfrm>
            <a:off x="9171432" y="4475988"/>
            <a:ext cx="333390" cy="45720"/>
          </a:xfrm>
          <a:prstGeom prst="rect">
            <a:avLst/>
          </a:prstGeom>
          <a:solidFill>
            <a:srgbClr val="1B30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470001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deployment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929823" y="470001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171432" y="4796028"/>
            <a:ext cx="1666951" cy="27432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8" name="Shape 36"/>
          <p:cNvSpPr/>
          <p:nvPr/>
        </p:nvSpPr>
        <p:spPr>
          <a:xfrm>
            <a:off x="9171432" y="4786884"/>
            <a:ext cx="250043" cy="45720"/>
          </a:xfrm>
          <a:prstGeom prst="rect">
            <a:avLst/>
          </a:prstGeom>
          <a:solidFill>
            <a:srgbClr val="1B30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46520" y="501091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GTM &amp; working capital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929823" y="501091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171432" y="5106924"/>
            <a:ext cx="1666951" cy="27432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42" name="Shape 40"/>
          <p:cNvSpPr/>
          <p:nvPr/>
        </p:nvSpPr>
        <p:spPr>
          <a:xfrm>
            <a:off x="9171432" y="5097780"/>
            <a:ext cx="333390" cy="45720"/>
          </a:xfrm>
          <a:prstGeom prst="rect">
            <a:avLst/>
          </a:prstGeom>
          <a:solidFill>
            <a:srgbClr val="1B305A"/>
          </a:solidFill>
          <a:ln/>
        </p:spPr>
      </p:sp>
      <p:sp>
        <p:nvSpPr>
          <p:cNvPr id="43" name="Text 41"/>
          <p:cNvSpPr/>
          <p:nvPr/>
        </p:nvSpPr>
        <p:spPr>
          <a:xfrm>
            <a:off x="6446520" y="5431536"/>
            <a:ext cx="4940503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an 6-month budget: three loaded salaries, on-site go-live at three pilot sites, ABDM certification, an independent security review, and inference at pilot volume.</a:t>
            </a:r>
            <a:endParaRPr lang="en-US" sz="8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0D66E43C-C028-3906-E421-21418420324D}"/>
              </a:ext>
            </a:extLst>
          </p:cNvPr>
          <p:cNvSpPr/>
          <p:nvPr/>
        </p:nvSpPr>
        <p:spPr>
          <a:xfrm>
            <a:off x="804977" y="2623768"/>
            <a:ext cx="49103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Dr.Vikram</a:t>
            </a: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 — Guide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OPD, Emergency and Telemedicine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 and token flow, consultation workspace, voice-to-SOAP notes, differential-diagnosis support with supporting and contradicting features, AI clarifying questions, prescription with drug-safety checks, order sets, follow-up scheduling.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Emergency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 classification, MLC register, mass-casualty mode, SLA clocks on door-to-doctor and door-to-decision, ED-to-mortuary handling, disaster mode.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Telemedicine &amp; teleconsult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 and patient consultation rooms, scheduling, e-prescription, and consultation notes written back to the same encounter as an in-person visit.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access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portal, kiosk check-in, unified inbox, CRM and patient-relations desk, TV display for waiting areas, health packages and bookings.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IPD, Nursing, Operation Theatre and specialised clinical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IPD &amp; Day Care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Admission, bed board, ward transfers, ward rounds, discharge workflow with clearance gates, day-care package procedures and late-discharge handling.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Nursing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Kardex, drug chart and MAR, vitals with NEWS2 early warning, intake–output, nursing notes, shift handover, and NABH acuity-based staffing computed from live scores.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 Theatre &amp; Anaesthesia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Scheduling, WHO surgical safety checklist, consumables and implant tracking, anaesthesia record, and post-operative notes.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Specialised units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Dialysis, Oncology with vial-wastage optimisation, IVF and Andrology, Dental, AYUSH, Physiotherapy, Mental Health, Chronic Disease, Neonatal, Obstetric ANC and Partograph, Ophthalmology, Vaccination, Home Care.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Laboratory and Radiology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Laboratory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to sample to result, barcode sample integrity, analyser ingestion, auto-verification rules, reflex testing, antibiotic susceptibility, internal QC with Westgard rules, critical-value alerting and narrative reporting.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Radiology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Modality worklist, DICOM handling, structured reporting with AI-suggested impressions, critical-finding escalation, PCPNDT Form F handling, and report distribution.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Blood Bank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Donor registry and re-engagement, component preparation, cross-match and compatibility, bag labelling, issue and transfusion reaction reporting.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CSSD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 set tracking, sterilisation cycle records with load and biological indicators, issue and return against the theatre that used them.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Pharmacy, Inventory and supply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Indent to dispense against the prescription, batch and expiry control, substitution rules, returns and credit notes, and a retail counter mode with its own stock.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Drug safety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Interaction checking, allergy cross-reactivity, Schedule H and X controls with NDPS register handling, high-alert medication rules, paediatric dose flags and per-dose ceilings.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&amp; procurement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Multi-store stock, purchase requisition, RFQ and vendor quotation, purchase orders with e-mail dispatch, goods receipt, consumption posting and reorder levels.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Biomedical &amp; assets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Equipment register, preventive maintenance calendars, breakdown and downtime logs, calibration due tracking, AMC contracts, and fixed-asset depreciation posting to accounts.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Billing, Insurance, PMJAY and Accounts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 capture at the point of care, atomic bill numbering, advances and deposits, discount approval tiers with role-based authority, refunds, day closure and locked-day controls, GST with e-invoice IRN generation.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Insurance &amp; TPA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masters, eligibility, pre-authorisation, claim submission and query response, denial appeal drafting, ageing and SLA tracking, payment reconciliation.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schemes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PMJAY eligibility and claim submission, CGHS eligibility, ESI claims, and HCX-based exchange with pre-auth and claim callbacks.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&amp; payments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Double-entry journal posting from clinical events, financial statements, Tally XML export, Razorpay collection with payment links, subscription billing, settlement reconciliation and dunning.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Operations, estate and workforce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Resources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register and credentialing with licence-expiry gates, rostering and duty allocation, attendance, leave, payroll engine with statutory components, payslips and exports.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&amp; estate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management for the building itself — utilities, maintenance requests and work orders — plus housekeeping schedules, infection-control rounds and linen handling.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services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Ambulance dispatch and trip logs, mortuary register, dietetics with therapeutic diet orders, and learning management for staff training records.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 records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MRD coding with ICD-10 assistance, record completion tracking, retention policy enforcement, retrieval requests and medico-legal document handling.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Analytics, quality and clinical intelligence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dashboards, HOD and departmental views, CEO and board pack, revenue intelligence, forecasts and population-health views — all computed from live operational tables, never a separate warehouse.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700784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1901952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&amp; NABH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8456" y="2182368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indicators mirrored between SQL views and application code so the dashboard and the criterion score cannot disagree; incident and event reporting, clinical audits, QI projects, committee minutes, and the NABH evidence matrix.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intelligence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Deterioration and sepsis early warning on NEWS2, acuity-based staffing against NABH ratios, lab anomaly detection, no-show and denial risk scoring, and executive anomaly digests.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3959352"/>
            <a:ext cx="5437480" cy="2075688"/>
          </a:xfrm>
          <a:prstGeom prst="roundRect">
            <a:avLst>
              <a:gd name="adj" fmla="val 1762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8456" y="4160520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out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8456" y="4440936"/>
            <a:ext cx="5035144" cy="1466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HMIS portal submission, IDSP alerts, statutory registers and scheduled exports — produced from routine work rather than assembled at month end.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 and user-based access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99616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roles, gated twice — once at the route, once again in the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66928" y="1965960"/>
            <a:ext cx="5437480" cy="1732788"/>
          </a:xfrm>
          <a:prstGeom prst="roundRect">
            <a:avLst>
              <a:gd name="adj" fmla="val 2111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6712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roles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2447544"/>
            <a:ext cx="5035144" cy="1123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Nurse — clinical modules, own-patient scoping, prescribing rights and attestation authority for AI-drafted content.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87288" y="1965960"/>
            <a:ext cx="5437480" cy="1732788"/>
          </a:xfrm>
          <a:prstGeom prst="roundRect">
            <a:avLst>
              <a:gd name="adj" fmla="val 2111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167128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Diagnostic &amp; pharmacy roles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447544"/>
            <a:ext cx="5035144" cy="1123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Technician, Radiologist, Pharmacist — their own module plus the order queue that feeds it, and nothing on the financial side.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881628"/>
            <a:ext cx="5437480" cy="1732788"/>
          </a:xfrm>
          <a:prstGeom prst="roundRect">
            <a:avLst>
              <a:gd name="adj" fmla="val 2111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4082796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roles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8096" y="4363212"/>
            <a:ext cx="5035144" cy="1123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Executive, Billing Staff, Accountant, CFO — billing, insurance, accounts and day closure, with discount authority tiered by role and enforced by a database trigger.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7288" y="3881628"/>
            <a:ext cx="5437480" cy="1732788"/>
          </a:xfrm>
          <a:prstGeom prst="roundRect">
            <a:avLst>
              <a:gd name="adj" fmla="val 2111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8456" y="4082796"/>
            <a:ext cx="5035144" cy="24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Administrative roles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88456" y="4363212"/>
            <a:ext cx="5035144" cy="1123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Admin, Super Admin, HR Manager, Reception, plus quality and infection-control roles — settings, masters, workforce and accreditation surfaces.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Route-level roles are declared in code; the same boundary is enforced independently by row-level security in Postgres, so a bypassed screen still cannot read another hospital's row.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F5A3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896112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module index — all 61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420624" cy="25603"/>
          </a:xfrm>
          <a:prstGeom prst="rect">
            <a:avLst/>
          </a:prstGeom>
          <a:solidFill>
            <a:srgbClr val="F5A310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1418234"/>
            <a:ext cx="10545775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6199632"/>
            <a:ext cx="11057839" cy="548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32764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Aumrti — AI-native hospital operating system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59168" y="6327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www.aumrti.com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27487" y="632764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23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1700784"/>
            <a:ext cx="1736293" cy="3877056"/>
          </a:xfrm>
          <a:prstGeom prst="roundRect">
            <a:avLst>
              <a:gd name="adj" fmla="val 210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47088"/>
            <a:ext cx="140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2194560"/>
            <a:ext cx="1407109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CARE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731520" y="2414016"/>
            <a:ext cx="140710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505456"/>
            <a:ext cx="1407109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Care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Emergency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 Theatre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Nursing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Telemedicine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Packages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431237" y="1700784"/>
            <a:ext cx="1736293" cy="3877056"/>
          </a:xfrm>
          <a:prstGeom prst="roundRect">
            <a:avLst>
              <a:gd name="adj" fmla="val 210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95829" y="1847088"/>
            <a:ext cx="140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595829" y="2194560"/>
            <a:ext cx="1407109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DIAGNOSTICS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2595829" y="2414016"/>
            <a:ext cx="140710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0" name="Text 18"/>
          <p:cNvSpPr/>
          <p:nvPr/>
        </p:nvSpPr>
        <p:spPr>
          <a:xfrm>
            <a:off x="2595829" y="2505456"/>
            <a:ext cx="1407109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Laboratory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Radiology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Blood Bank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CSSD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Pharmacy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4295546" y="1700784"/>
            <a:ext cx="1736293" cy="3877056"/>
          </a:xfrm>
          <a:prstGeom prst="roundRect">
            <a:avLst>
              <a:gd name="adj" fmla="val 210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60138" y="1847088"/>
            <a:ext cx="140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460138" y="2194560"/>
            <a:ext cx="1407109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SPECIALTY UNITS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4460138" y="2414016"/>
            <a:ext cx="140710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5" name="Text 23"/>
          <p:cNvSpPr/>
          <p:nvPr/>
        </p:nvSpPr>
        <p:spPr>
          <a:xfrm>
            <a:off x="4460138" y="2505456"/>
            <a:ext cx="1407109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Dialysis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Oncology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IVF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AYUSH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Physiotherapy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Mental Health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Chronic Disease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Neonatal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Obstetric ANC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Partograph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Anaesthesia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Ophthalmology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Vaccination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Care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6159856" y="1700784"/>
            <a:ext cx="1736293" cy="3877056"/>
          </a:xfrm>
          <a:prstGeom prst="roundRect">
            <a:avLst>
              <a:gd name="adj" fmla="val 210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4448" y="1847088"/>
            <a:ext cx="140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324448" y="2194560"/>
            <a:ext cx="1407109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CYCLE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6324448" y="2414016"/>
            <a:ext cx="140710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0" name="Text 28"/>
          <p:cNvSpPr/>
          <p:nvPr/>
        </p:nvSpPr>
        <p:spPr>
          <a:xfrm>
            <a:off x="6324448" y="2505456"/>
            <a:ext cx="1407109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Insurance &amp; TPA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PMJAY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Closure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 Assets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8024165" y="1700784"/>
            <a:ext cx="1736293" cy="3877056"/>
          </a:xfrm>
          <a:prstGeom prst="roundRect">
            <a:avLst>
              <a:gd name="adj" fmla="val 210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8757" y="1847088"/>
            <a:ext cx="140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88757" y="2194560"/>
            <a:ext cx="1407109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8188757" y="2414016"/>
            <a:ext cx="140710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5" name="Text 33"/>
          <p:cNvSpPr/>
          <p:nvPr/>
        </p:nvSpPr>
        <p:spPr>
          <a:xfrm>
            <a:off x="8188757" y="2505456"/>
            <a:ext cx="1407109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Resources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Biomedical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Management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Housekeeping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Ambulance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Mortuary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Dietetics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 Records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&amp; NABH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Infection Control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HMIS Reporting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9888474" y="1700784"/>
            <a:ext cx="1736293" cy="3877056"/>
          </a:xfrm>
          <a:prstGeom prst="roundRect">
            <a:avLst>
              <a:gd name="adj" fmla="val 2107"/>
            </a:avLst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53066" y="1847088"/>
            <a:ext cx="140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0053066" y="2194560"/>
            <a:ext cx="1407109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20" b="1" kern="0" spc="10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10053066" y="2414016"/>
            <a:ext cx="1407109" cy="5486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40" name="Text 38"/>
          <p:cNvSpPr/>
          <p:nvPr/>
        </p:nvSpPr>
        <p:spPr>
          <a:xfrm>
            <a:off x="10053066" y="2505456"/>
            <a:ext cx="1407109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&amp; Training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CRM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Portal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Relations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Inbox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Intelligence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HOD Dashboard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 Display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 &amp; Masters</a:t>
            </a:r>
            <a:endParaRPr lang="en-US" sz="94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Suite</a:t>
            </a:r>
            <a:endParaRPr lang="en-US" sz="940" dirty="0"/>
          </a:p>
        </p:txBody>
      </p:sp>
      <p:sp>
        <p:nvSpPr>
          <p:cNvPr id="41" name="Text 39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8A2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list, read from src/lib/moduleKeys.ts at build time. Counts on the depth slide are derived from this same source.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4350</Words>
  <Application>Microsoft Office PowerPoint</Application>
  <PresentationFormat>Widescreen</PresentationFormat>
  <Paragraphs>625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Aumrti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Aumrti — One system for every operation in the hospital</dc:title>
  <dc:subject>Investor pitch deck prepared for the Ratan Tata Innovation Hub, Amaravati</dc:subject>
  <dc:creator>Yeswanth Gottumukkala</dc:creator>
  <cp:lastModifiedBy>Yeswanth Gottumukkala</cp:lastModifiedBy>
  <cp:revision>13</cp:revision>
  <dcterms:created xsi:type="dcterms:W3CDTF">2026-08-06T17:18:29Z</dcterms:created>
  <dcterms:modified xsi:type="dcterms:W3CDTF">2026-08-06T18:35:54Z</dcterms:modified>
</cp:coreProperties>
</file>